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Default Extension="png" ContentType="image/png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Default Extension="fntdata" ContentType="application/x-fontdata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  <Default Extension="mp4" ContentType="video/mp4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63" r:id="rId3"/>
    <p:sldId id="261" r:id="rId4"/>
    <p:sldId id="257" r:id="rId5"/>
    <p:sldId id="258" r:id="rId6"/>
    <p:sldId id="259" r:id="rId7"/>
    <p:sldId id="260" r:id="rId8"/>
    <p:sldId id="262" r:id="rId9"/>
  </p:sldIdLst>
  <p:sldSz cx="18288000" cy="10287000"/>
  <p:notesSz cx="6858000" cy="9144000"/>
  <p:embeddedFontLst>
    <p:embeddedFont>
      <p:font typeface="王漢宗顏楷體" charset="-120"/>
      <p:regular r:id="rId10"/>
    </p:embeddedFont>
    <p:embeddedFont>
      <p:font typeface="王漢宗特黑體" charset="-120"/>
      <p:regular r:id="rId11"/>
    </p:embeddedFont>
    <p:embeddedFont>
      <p:font typeface="Noto Sans T Chinese" charset="-120"/>
      <p:regular r:id="rId12"/>
    </p:embeddedFont>
    <p:embeddedFont>
      <p:font typeface="Gotham" charset="0"/>
      <p:regular r:id="rId13"/>
    </p:embeddedFont>
    <p:embeddedFont>
      <p:font typeface="Gotham Bold" charset="0"/>
      <p:regular r:id="rId14"/>
    </p:embeddedFont>
    <p:embeddedFont>
      <p:font typeface="Calibri" pitchFamily="34" charset="0"/>
      <p:regular r:id="rId15"/>
      <p:bold r:id="rId16"/>
      <p:italic r:id="rId17"/>
      <p:boldItalic r:id="rId18"/>
    </p:embeddedFont>
    <p:embeddedFont>
      <p:font typeface="Academy" charset="0"/>
      <p:regular r:id="rId1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xmlns="" val="0"/>
    </p:ext>
    <p:ext uri="{D31A062A-798A-4329-ABDD-BBA856620510}">
      <p14:defaultImageDpi xmlns:p14="http://schemas.microsoft.com/office/powerpoint/2010/main" xmlns="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70" d="100"/>
          <a:sy n="70" d="100"/>
        </p:scale>
        <p:origin x="-774" y="-10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8028800" cy="780288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4.fntdata"/><Relationship Id="rId18" Type="http://schemas.openxmlformats.org/officeDocument/2006/relationships/font" Target="fonts/font9.fntdata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font" Target="fonts/font3.fntdata"/><Relationship Id="rId17" Type="http://schemas.openxmlformats.org/officeDocument/2006/relationships/font" Target="fonts/font8.fntdata"/><Relationship Id="rId2" Type="http://schemas.openxmlformats.org/officeDocument/2006/relationships/slide" Target="slides/slide1.xml"/><Relationship Id="rId16" Type="http://schemas.openxmlformats.org/officeDocument/2006/relationships/font" Target="fonts/font7.fntdata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2.fntdata"/><Relationship Id="rId5" Type="http://schemas.openxmlformats.org/officeDocument/2006/relationships/slide" Target="slides/slide4.xml"/><Relationship Id="rId15" Type="http://schemas.openxmlformats.org/officeDocument/2006/relationships/font" Target="fonts/font6.fntdata"/><Relationship Id="rId23" Type="http://schemas.openxmlformats.org/officeDocument/2006/relationships/tableStyles" Target="tableStyles.xml"/><Relationship Id="rId10" Type="http://schemas.openxmlformats.org/officeDocument/2006/relationships/font" Target="fonts/font1.fntdata"/><Relationship Id="rId19" Type="http://schemas.openxmlformats.org/officeDocument/2006/relationships/font" Target="fonts/font10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5.fntdata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2/18/2025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2/18/2025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2/18/2025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2/18/2025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slideLayout" Target="../slideLayouts/slideLayout7.xml"/><Relationship Id="rId1" Type="http://schemas.openxmlformats.org/officeDocument/2006/relationships/video" Target="file:///F:\&#24819;&#21360;&#26159;.mp4" TargetMode="Externa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video" Target="../media/VAGeuC2L1ig.mp4"/><Relationship Id="rId5" Type="http://schemas.openxmlformats.org/officeDocument/2006/relationships/image" Target="../media/image8.jpeg"/><Relationship Id="rId4" Type="http://schemas.microsoft.com/office/2007/relationships/media" Target="../media/VAGeuC2L1ig.mp4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video" Target="../media/VAGeuCOQLh0.mp4"/><Relationship Id="rId5" Type="http://schemas.openxmlformats.org/officeDocument/2006/relationships/image" Target="../media/image9.jpeg"/><Relationship Id="rId4" Type="http://schemas.microsoft.com/office/2007/relationships/media" Target="../media/VAGeuCOQLh0.mp4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slideLayout" Target="../slideLayouts/slideLayout7.xml"/><Relationship Id="rId1" Type="http://schemas.openxmlformats.org/officeDocument/2006/relationships/video" Target="file:///F:\&#25152;&#26377;&#27402;.mp4" TargetMode="Externa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slideLayout" Target="../slideLayouts/slideLayout7.xml"/><Relationship Id="rId1" Type="http://schemas.openxmlformats.org/officeDocument/2006/relationships/video" Target="file:///F:\&#25972;&#27573;&#36890;&#30693;.mp4" TargetMode="Externa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54545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3999127" y="1076325"/>
            <a:ext cx="2695095" cy="79089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9400"/>
              </a:lnSpc>
            </a:pPr>
            <a:r>
              <a:rPr lang="en-US" sz="20000" spc="1000">
                <a:solidFill>
                  <a:srgbClr val="F6E7D8">
                    <a:alpha val="89804"/>
                  </a:srgbClr>
                </a:solidFill>
                <a:latin typeface="王漢宗顏楷體"/>
                <a:ea typeface="王漢宗顏楷體"/>
                <a:cs typeface="王漢宗顏楷體"/>
                <a:sym typeface="王漢宗顏楷體"/>
              </a:rPr>
              <a:t>李雨</a:t>
            </a:r>
          </a:p>
          <a:p>
            <a:pPr algn="l">
              <a:lnSpc>
                <a:spcPts val="19400"/>
              </a:lnSpc>
            </a:pPr>
            <a:r>
              <a:rPr lang="en-US" sz="20000" spc="1000">
                <a:solidFill>
                  <a:srgbClr val="F6E7D8">
                    <a:alpha val="89804"/>
                  </a:srgbClr>
                </a:solidFill>
                <a:latin typeface="王漢宗顏楷體"/>
                <a:ea typeface="王漢宗顏楷體"/>
                <a:cs typeface="王漢宗顏楷體"/>
                <a:sym typeface="王漢宗顏楷體"/>
              </a:rPr>
              <a:t>融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3104294" y="1287024"/>
            <a:ext cx="7258906" cy="99168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400"/>
              </a:lnSpc>
              <a:spcBef>
                <a:spcPct val="0"/>
              </a:spcBef>
            </a:pPr>
            <a:r>
              <a:rPr lang="en-US" sz="6000" dirty="0" err="1" smtClean="0">
                <a:solidFill>
                  <a:srgbClr val="F6E7D8"/>
                </a:solidFill>
                <a:latin typeface="王漢宗特黑體"/>
                <a:ea typeface="王漢宗特黑體"/>
                <a:cs typeface="王漢宗特黑體"/>
                <a:sym typeface="王漢宗特黑體"/>
              </a:rPr>
              <a:t>實作貢獻</a:t>
            </a:r>
            <a:endParaRPr lang="en-US" sz="6000" dirty="0">
              <a:solidFill>
                <a:srgbClr val="F6E7D8"/>
              </a:solidFill>
              <a:latin typeface="王漢宗特黑體"/>
              <a:ea typeface="王漢宗特黑體"/>
              <a:cs typeface="王漢宗特黑體"/>
              <a:sym typeface="王漢宗特黑體"/>
            </a:endParaRPr>
          </a:p>
        </p:txBody>
      </p:sp>
      <p:sp>
        <p:nvSpPr>
          <p:cNvPr id="4" name="TextBox 4"/>
          <p:cNvSpPr txBox="1"/>
          <p:nvPr/>
        </p:nvSpPr>
        <p:spPr>
          <a:xfrm>
            <a:off x="1028700" y="2598218"/>
            <a:ext cx="8495395" cy="35210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1079501" lvl="1" indent="-539750" algn="just">
              <a:lnSpc>
                <a:spcPts val="7000"/>
              </a:lnSpc>
              <a:buFont typeface="Arial"/>
              <a:buChar char="•"/>
            </a:pPr>
            <a:r>
              <a:rPr lang="en-US" sz="5000">
                <a:solidFill>
                  <a:srgbClr val="F6E7D8"/>
                </a:solidFill>
                <a:latin typeface="Noto Sans T Chinese"/>
                <a:ea typeface="Noto Sans T Chinese"/>
                <a:cs typeface="Noto Sans T Chinese"/>
                <a:sym typeface="Noto Sans T Chinese"/>
              </a:rPr>
              <a:t>多張動圖上傳</a:t>
            </a:r>
          </a:p>
          <a:p>
            <a:pPr marL="1079501" lvl="1" indent="-539750" algn="just">
              <a:lnSpc>
                <a:spcPts val="7000"/>
              </a:lnSpc>
              <a:buFont typeface="Arial"/>
              <a:buChar char="•"/>
            </a:pPr>
            <a:r>
              <a:rPr lang="en-US" sz="5000">
                <a:solidFill>
                  <a:srgbClr val="F6E7D8"/>
                </a:solidFill>
                <a:latin typeface="Noto Sans T Chinese"/>
                <a:ea typeface="Noto Sans T Chinese"/>
                <a:cs typeface="Noto Sans T Chinese"/>
                <a:sym typeface="Noto Sans T Chinese"/>
              </a:rPr>
              <a:t>大圖片裁切上傳</a:t>
            </a:r>
          </a:p>
          <a:p>
            <a:pPr marL="1079501" lvl="1" indent="-539750" algn="just">
              <a:lnSpc>
                <a:spcPts val="7000"/>
              </a:lnSpc>
              <a:buFont typeface="Arial"/>
              <a:buChar char="•"/>
            </a:pPr>
            <a:r>
              <a:rPr lang="en-US" sz="5000">
                <a:solidFill>
                  <a:srgbClr val="F6E7D8"/>
                </a:solidFill>
                <a:latin typeface="Noto Sans T Chinese"/>
                <a:ea typeface="Noto Sans T Chinese"/>
                <a:cs typeface="Noto Sans T Chinese"/>
                <a:sym typeface="Noto Sans T Chinese"/>
              </a:rPr>
              <a:t>修改權確認</a:t>
            </a:r>
          </a:p>
          <a:p>
            <a:pPr marL="1079501" lvl="1" indent="-539750" algn="just">
              <a:lnSpc>
                <a:spcPts val="7000"/>
              </a:lnSpc>
              <a:buFont typeface="Arial"/>
              <a:buChar char="•"/>
            </a:pPr>
            <a:r>
              <a:rPr lang="en-US" sz="5000">
                <a:solidFill>
                  <a:srgbClr val="F6E7D8"/>
                </a:solidFill>
                <a:latin typeface="Noto Sans T Chinese"/>
                <a:ea typeface="Noto Sans T Chinese"/>
                <a:cs typeface="Noto Sans T Chinese"/>
                <a:sym typeface="Noto Sans T Chinese"/>
              </a:rPr>
              <a:t>通知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628770" y="7098587"/>
            <a:ext cx="5999050" cy="12573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74"/>
              </a:lnSpc>
            </a:pPr>
            <a:r>
              <a:rPr lang="en-US" sz="2499" spc="62">
                <a:solidFill>
                  <a:srgbClr val="F6E7D8"/>
                </a:solidFill>
                <a:latin typeface="Gotham"/>
                <a:ea typeface="Gotham"/>
                <a:cs typeface="Gotham"/>
                <a:sym typeface="Gotham"/>
              </a:rPr>
              <a:t>每</a:t>
            </a:r>
            <a:r>
              <a:rPr lang="en-US" sz="2499" b="1" spc="62">
                <a:solidFill>
                  <a:srgbClr val="F6E7D8"/>
                </a:solidFill>
                <a:latin typeface="Gotham Bold"/>
                <a:ea typeface="Gotham Bold"/>
                <a:cs typeface="Gotham Bold"/>
                <a:sym typeface="Gotham Bold"/>
              </a:rPr>
              <a:t>篇貼文有: 1. 點讚功能</a:t>
            </a:r>
          </a:p>
          <a:p>
            <a:pPr algn="l">
              <a:lnSpc>
                <a:spcPts val="3374"/>
              </a:lnSpc>
            </a:pPr>
            <a:r>
              <a:rPr lang="en-US" sz="2499" b="1" spc="62">
                <a:solidFill>
                  <a:srgbClr val="F6E7D8"/>
                </a:solidFill>
                <a:latin typeface="Gotham Bold"/>
                <a:ea typeface="Gotham Bold"/>
                <a:cs typeface="Gotham Bold"/>
                <a:sym typeface="Gotham Bold"/>
              </a:rPr>
              <a:t>                  2.留言功能</a:t>
            </a:r>
          </a:p>
          <a:p>
            <a:pPr marL="0" lvl="0" indent="0" algn="l">
              <a:lnSpc>
                <a:spcPts val="3374"/>
              </a:lnSpc>
              <a:spcBef>
                <a:spcPct val="0"/>
              </a:spcBef>
            </a:pPr>
            <a:r>
              <a:rPr lang="en-US" sz="2499" b="1" spc="62">
                <a:solidFill>
                  <a:srgbClr val="F6E7D8"/>
                </a:solidFill>
                <a:latin typeface="Gotham Bold"/>
                <a:ea typeface="Gotham Bold"/>
                <a:cs typeface="Gotham Bold"/>
                <a:sym typeface="Gotham Bold"/>
              </a:rPr>
              <a:t>                  3.分享功能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152295" y="7108112"/>
            <a:ext cx="6359336" cy="12752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49"/>
              </a:lnSpc>
            </a:pPr>
            <a:r>
              <a:rPr lang="en-US" sz="2555" b="1" spc="63">
                <a:solidFill>
                  <a:srgbClr val="F6E7D8"/>
                </a:solidFill>
                <a:latin typeface="Gotham Bold"/>
                <a:ea typeface="Gotham Bold"/>
                <a:cs typeface="Gotham Bold"/>
                <a:sym typeface="Gotham Bold"/>
              </a:rPr>
              <a:t>結構:  前端貼文產生，基礎運作由ui.js產生</a:t>
            </a:r>
          </a:p>
          <a:p>
            <a:pPr algn="l">
              <a:lnSpc>
                <a:spcPts val="3449"/>
              </a:lnSpc>
            </a:pPr>
            <a:r>
              <a:rPr lang="en-US" sz="2555" b="1" spc="63">
                <a:solidFill>
                  <a:srgbClr val="F6E7D8"/>
                </a:solidFill>
                <a:latin typeface="Gotham Bold"/>
                <a:ea typeface="Gotham Bold"/>
                <a:cs typeface="Gotham Bold"/>
                <a:sym typeface="Gotham Bold"/>
              </a:rPr>
              <a:t>         </a:t>
            </a:r>
          </a:p>
          <a:p>
            <a:pPr marL="0" lvl="0" indent="0" algn="l">
              <a:lnSpc>
                <a:spcPts val="3449"/>
              </a:lnSpc>
              <a:spcBef>
                <a:spcPct val="0"/>
              </a:spcBef>
            </a:pPr>
            <a:r>
              <a:rPr lang="en-US" sz="2555" b="1" spc="63">
                <a:solidFill>
                  <a:srgbClr val="F6E7D8"/>
                </a:solidFill>
                <a:latin typeface="Gotham Bold"/>
                <a:ea typeface="Gotham Bold"/>
                <a:cs typeface="Gotham Bold"/>
                <a:sym typeface="Gotham Bold"/>
              </a:rPr>
              <a:t>         系統資料庫抓取則與api.js有關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 3"/>
          <p:cNvSpPr/>
          <p:nvPr/>
        </p:nvSpPr>
        <p:spPr>
          <a:xfrm>
            <a:off x="8091869" y="3818784"/>
            <a:ext cx="3113862" cy="3768406"/>
          </a:xfrm>
          <a:custGeom>
            <a:avLst/>
            <a:gdLst/>
            <a:ahLst/>
            <a:cxnLst/>
            <a:rect l="l" t="t" r="r" b="b"/>
            <a:pathLst>
              <a:path w="3113862" h="3768406">
                <a:moveTo>
                  <a:pt x="0" y="0"/>
                </a:moveTo>
                <a:lnTo>
                  <a:pt x="3113863" y="0"/>
                </a:lnTo>
                <a:lnTo>
                  <a:pt x="3113863" y="3768407"/>
                </a:lnTo>
                <a:lnTo>
                  <a:pt x="0" y="3768407"/>
                </a:lnTo>
                <a:lnTo>
                  <a:pt x="0" y="0"/>
                </a:lnTo>
                <a:close/>
              </a:path>
            </a:pathLst>
          </a:custGeom>
          <a:blipFill>
            <a:blip r:embed="rId2" cstate="print"/>
            <a:stretch>
              <a:fillRect l="-50062" t="-5170" r="-52161" b="-6228"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7577240" y="7108853"/>
            <a:ext cx="4215703" cy="2213244"/>
          </a:xfrm>
          <a:custGeom>
            <a:avLst/>
            <a:gdLst/>
            <a:ahLst/>
            <a:cxnLst/>
            <a:rect l="l" t="t" r="r" b="b"/>
            <a:pathLst>
              <a:path w="4215703" h="2213244">
                <a:moveTo>
                  <a:pt x="0" y="0"/>
                </a:moveTo>
                <a:lnTo>
                  <a:pt x="4215703" y="0"/>
                </a:lnTo>
                <a:lnTo>
                  <a:pt x="4215703" y="2213244"/>
                </a:lnTo>
                <a:lnTo>
                  <a:pt x="0" y="2213244"/>
                </a:lnTo>
                <a:lnTo>
                  <a:pt x="0" y="0"/>
                </a:lnTo>
                <a:close/>
              </a:path>
            </a:pathLst>
          </a:custGeom>
          <a:blipFill>
            <a:blip r:embed="rId3" cstate="print"/>
            <a:stretch>
              <a:fillRect/>
            </a:stretch>
          </a:blipFill>
        </p:spPr>
      </p:sp>
      <p:grpSp>
        <p:nvGrpSpPr>
          <p:cNvPr id="5" name="Group 5"/>
          <p:cNvGrpSpPr/>
          <p:nvPr/>
        </p:nvGrpSpPr>
        <p:grpSpPr>
          <a:xfrm>
            <a:off x="11762088" y="-9632634"/>
            <a:ext cx="10994424" cy="10994424"/>
            <a:chOff x="0" y="0"/>
            <a:chExt cx="812800" cy="8128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514350" cap="sq">
              <a:solidFill>
                <a:srgbClr val="FD6220">
                  <a:alpha val="11765"/>
                </a:srgbClr>
              </a:solidFill>
              <a:prstDash val="solid"/>
              <a:miter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8" name="Freeform 8"/>
          <p:cNvSpPr/>
          <p:nvPr/>
        </p:nvSpPr>
        <p:spPr>
          <a:xfrm>
            <a:off x="12617144" y="3218021"/>
            <a:ext cx="3158455" cy="2734975"/>
          </a:xfrm>
          <a:custGeom>
            <a:avLst/>
            <a:gdLst/>
            <a:ahLst/>
            <a:cxnLst/>
            <a:rect l="l" t="t" r="r" b="b"/>
            <a:pathLst>
              <a:path w="3158455" h="2734975">
                <a:moveTo>
                  <a:pt x="0" y="0"/>
                </a:moveTo>
                <a:lnTo>
                  <a:pt x="3158455" y="0"/>
                </a:lnTo>
                <a:lnTo>
                  <a:pt x="3158455" y="2734976"/>
                </a:lnTo>
                <a:lnTo>
                  <a:pt x="0" y="2734976"/>
                </a:lnTo>
                <a:lnTo>
                  <a:pt x="0" y="0"/>
                </a:lnTo>
                <a:close/>
              </a:path>
            </a:pathLst>
          </a:custGeom>
          <a:blipFill>
            <a:blip r:embed="rId4" cstate="print"/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 rot="-358098">
            <a:off x="12467543" y="6593469"/>
            <a:ext cx="2795087" cy="2795087"/>
          </a:xfrm>
          <a:custGeom>
            <a:avLst/>
            <a:gdLst/>
            <a:ahLst/>
            <a:cxnLst/>
            <a:rect l="l" t="t" r="r" b="b"/>
            <a:pathLst>
              <a:path w="2795087" h="2795087">
                <a:moveTo>
                  <a:pt x="0" y="0"/>
                </a:moveTo>
                <a:lnTo>
                  <a:pt x="2795087" y="0"/>
                </a:lnTo>
                <a:lnTo>
                  <a:pt x="2795087" y="2795088"/>
                </a:lnTo>
                <a:lnTo>
                  <a:pt x="0" y="2795088"/>
                </a:lnTo>
                <a:lnTo>
                  <a:pt x="0" y="0"/>
                </a:lnTo>
                <a:close/>
              </a:path>
            </a:pathLst>
          </a:custGeom>
          <a:blipFill>
            <a:blip r:embed="rId5" cstate="print"/>
            <a:stretch>
              <a:fillRect/>
            </a:stretch>
          </a:blipFill>
        </p:spPr>
      </p:sp>
      <p:sp>
        <p:nvSpPr>
          <p:cNvPr id="10" name="Freeform 10"/>
          <p:cNvSpPr/>
          <p:nvPr/>
        </p:nvSpPr>
        <p:spPr>
          <a:xfrm rot="508290">
            <a:off x="15481639" y="5471382"/>
            <a:ext cx="1855132" cy="1855132"/>
          </a:xfrm>
          <a:custGeom>
            <a:avLst/>
            <a:gdLst/>
            <a:ahLst/>
            <a:cxnLst/>
            <a:rect l="l" t="t" r="r" b="b"/>
            <a:pathLst>
              <a:path w="1855132" h="1855132">
                <a:moveTo>
                  <a:pt x="0" y="0"/>
                </a:moveTo>
                <a:lnTo>
                  <a:pt x="1855132" y="0"/>
                </a:lnTo>
                <a:lnTo>
                  <a:pt x="1855132" y="1855132"/>
                </a:lnTo>
                <a:lnTo>
                  <a:pt x="0" y="1855132"/>
                </a:lnTo>
                <a:lnTo>
                  <a:pt x="0" y="0"/>
                </a:lnTo>
                <a:close/>
              </a:path>
            </a:pathLst>
          </a:custGeom>
          <a:blipFill>
            <a:blip r:embed="rId6" cstate="print"/>
            <a:stretch>
              <a:fillRect/>
            </a:stretch>
          </a:blipFill>
        </p:spPr>
      </p:sp>
      <p:sp>
        <p:nvSpPr>
          <p:cNvPr id="11" name="Freeform 11"/>
          <p:cNvSpPr/>
          <p:nvPr/>
        </p:nvSpPr>
        <p:spPr>
          <a:xfrm>
            <a:off x="2933462" y="4447339"/>
            <a:ext cx="4305896" cy="2638754"/>
          </a:xfrm>
          <a:custGeom>
            <a:avLst/>
            <a:gdLst/>
            <a:ahLst/>
            <a:cxnLst/>
            <a:rect l="l" t="t" r="r" b="b"/>
            <a:pathLst>
              <a:path w="4305896" h="2638754">
                <a:moveTo>
                  <a:pt x="0" y="0"/>
                </a:moveTo>
                <a:lnTo>
                  <a:pt x="4305897" y="0"/>
                </a:lnTo>
                <a:lnTo>
                  <a:pt x="4305897" y="2638754"/>
                </a:lnTo>
                <a:lnTo>
                  <a:pt x="0" y="2638754"/>
                </a:lnTo>
                <a:lnTo>
                  <a:pt x="0" y="0"/>
                </a:lnTo>
                <a:close/>
              </a:path>
            </a:pathLst>
          </a:custGeom>
          <a:blipFill>
            <a:blip r:embed="rId7" cstate="print"/>
            <a:stretch>
              <a:fillRect l="-43534" t="-32600" r="-40311" b="-20617"/>
            </a:stretch>
          </a:blipFill>
        </p:spPr>
      </p:sp>
      <p:sp>
        <p:nvSpPr>
          <p:cNvPr id="12" name="TextBox 12"/>
          <p:cNvSpPr txBox="1"/>
          <p:nvPr/>
        </p:nvSpPr>
        <p:spPr>
          <a:xfrm>
            <a:off x="2579868" y="1582506"/>
            <a:ext cx="9688332" cy="138499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ts val="5432"/>
              </a:lnSpc>
              <a:spcBef>
                <a:spcPct val="0"/>
              </a:spcBef>
            </a:pPr>
            <a:r>
              <a:rPr lang="en-US" sz="5600" b="1" u="none" strike="noStrike" spc="280" dirty="0" err="1" smtClean="0">
                <a:solidFill>
                  <a:srgbClr val="F4B324"/>
                </a:solidFill>
                <a:latin typeface="Gotham Bold"/>
                <a:ea typeface="Gotham Bold"/>
                <a:cs typeface="Gotham Bold"/>
                <a:sym typeface="Gotham Bold"/>
              </a:rPr>
              <a:t>使用工具與技術</a:t>
            </a:r>
            <a:r>
              <a:rPr lang="zh-TW" altLang="en-US" sz="5600" b="1" u="none" strike="noStrike" spc="280" dirty="0" smtClean="0">
                <a:solidFill>
                  <a:srgbClr val="F4B324"/>
                </a:solidFill>
                <a:latin typeface="Gotham Bold"/>
                <a:ea typeface="Gotham Bold"/>
                <a:cs typeface="Gotham Bold"/>
                <a:sym typeface="Gotham Bold"/>
              </a:rPr>
              <a:t>，</a:t>
            </a:r>
            <a:r>
              <a:rPr lang="zh-TW" altLang="en-US" sz="5600" b="1" spc="280" dirty="0" smtClean="0">
                <a:solidFill>
                  <a:srgbClr val="F4B324"/>
                </a:solidFill>
                <a:latin typeface="Gotham Bold"/>
                <a:ea typeface="Gotham Bold"/>
                <a:cs typeface="Gotham Bold"/>
                <a:sym typeface="Gotham Bold"/>
              </a:rPr>
              <a:t>我</a:t>
            </a:r>
            <a:r>
              <a:rPr lang="zh-TW" altLang="en-US" sz="5600" b="1" spc="280" dirty="0" smtClean="0">
                <a:solidFill>
                  <a:srgbClr val="F4B324"/>
                </a:solidFill>
                <a:latin typeface="Gotham Bold"/>
                <a:ea typeface="Gotham Bold"/>
                <a:cs typeface="Gotham Bold"/>
                <a:sym typeface="Gotham Bold"/>
              </a:rPr>
              <a:t>個人負責</a:t>
            </a:r>
            <a:r>
              <a:rPr lang="zh-TW" altLang="en-US" sz="5600" b="1" spc="280" smtClean="0">
                <a:solidFill>
                  <a:srgbClr val="F4B324"/>
                </a:solidFill>
                <a:latin typeface="Gotham Bold"/>
                <a:ea typeface="Gotham Bold"/>
                <a:cs typeface="Gotham Bold"/>
                <a:sym typeface="Gotham Bold"/>
              </a:rPr>
              <a:t>的部分</a:t>
            </a:r>
            <a:r>
              <a:rPr lang="zh-TW" altLang="en-US" sz="5600" b="1" spc="280" smtClean="0">
                <a:solidFill>
                  <a:srgbClr val="F4B324"/>
                </a:solidFill>
                <a:latin typeface="Gotham Bold"/>
                <a:ea typeface="Gotham Bold"/>
                <a:cs typeface="Gotham Bold"/>
                <a:sym typeface="Gotham Bold"/>
              </a:rPr>
              <a:t>不</a:t>
            </a:r>
            <a:r>
              <a:rPr lang="zh-TW" altLang="en-US" sz="5600" b="1" spc="280" smtClean="0">
                <a:solidFill>
                  <a:srgbClr val="F4B324"/>
                </a:solidFill>
                <a:latin typeface="Gotham Bold"/>
                <a:ea typeface="Gotham Bold"/>
                <a:cs typeface="Gotham Bold"/>
                <a:sym typeface="Gotham Bold"/>
              </a:rPr>
              <a:t>包括</a:t>
            </a:r>
            <a:r>
              <a:rPr lang="en-US" altLang="zh-TW" sz="5600" b="1" spc="280" dirty="0" smtClean="0">
                <a:solidFill>
                  <a:srgbClr val="F4B324"/>
                </a:solidFill>
                <a:latin typeface="Gotham Bold"/>
                <a:ea typeface="Gotham Bold"/>
                <a:cs typeface="Gotham Bold"/>
                <a:sym typeface="Gotham Bold"/>
              </a:rPr>
              <a:t>flyway</a:t>
            </a:r>
            <a:endParaRPr lang="en-US" sz="5600" b="1" u="none" strike="noStrike" spc="280" dirty="0">
              <a:solidFill>
                <a:srgbClr val="F4B324"/>
              </a:solidFill>
              <a:latin typeface="Gotham Bold"/>
              <a:ea typeface="Gotham Bold"/>
              <a:cs typeface="Gotham Bold"/>
              <a:sym typeface="Gotham Bold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4172011" y="3669204"/>
            <a:ext cx="1828800" cy="7880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6719"/>
              </a:lnSpc>
              <a:spcBef>
                <a:spcPct val="0"/>
              </a:spcBef>
            </a:pPr>
            <a:r>
              <a:rPr lang="en-US" sz="4800" dirty="0" err="1">
                <a:latin typeface="王漢宗顏楷體"/>
                <a:ea typeface="王漢宗顏楷體"/>
                <a:cs typeface="王漢宗顏楷體"/>
                <a:sym typeface="王漢宗顏楷體"/>
              </a:rPr>
              <a:t>資料庫</a:t>
            </a:r>
            <a:endParaRPr lang="en-US" sz="4800" dirty="0">
              <a:latin typeface="王漢宗顏楷體"/>
              <a:ea typeface="王漢宗顏楷體"/>
              <a:cs typeface="王漢宗顏楷體"/>
              <a:sym typeface="王漢宗顏楷體"/>
            </a:endParaRPr>
          </a:p>
        </p:txBody>
      </p:sp>
      <p:sp>
        <p:nvSpPr>
          <p:cNvPr id="14" name="TextBox 14"/>
          <p:cNvSpPr txBox="1"/>
          <p:nvPr/>
        </p:nvSpPr>
        <p:spPr>
          <a:xfrm>
            <a:off x="9039201" y="2860181"/>
            <a:ext cx="1219200" cy="7880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6719"/>
              </a:lnSpc>
              <a:spcBef>
                <a:spcPct val="0"/>
              </a:spcBef>
            </a:pPr>
            <a:r>
              <a:rPr lang="en-US" sz="4800" dirty="0" err="1">
                <a:latin typeface="王漢宗顏楷體"/>
                <a:ea typeface="王漢宗顏楷體"/>
                <a:cs typeface="王漢宗顏楷體"/>
                <a:sym typeface="王漢宗顏楷體"/>
              </a:rPr>
              <a:t>後端</a:t>
            </a:r>
            <a:endParaRPr lang="en-US" sz="4800" dirty="0">
              <a:latin typeface="王漢宗顏楷體"/>
              <a:ea typeface="王漢宗顏楷體"/>
              <a:cs typeface="王漢宗顏楷體"/>
              <a:sym typeface="王漢宗顏楷體"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13586772" y="2028362"/>
            <a:ext cx="1219200" cy="7880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6719"/>
              </a:lnSpc>
              <a:spcBef>
                <a:spcPct val="0"/>
              </a:spcBef>
            </a:pPr>
            <a:r>
              <a:rPr lang="en-US" sz="4800" dirty="0" err="1">
                <a:latin typeface="王漢宗顏楷體"/>
                <a:ea typeface="王漢宗顏楷體"/>
                <a:cs typeface="王漢宗顏楷體"/>
                <a:sym typeface="王漢宗顏楷體"/>
              </a:rPr>
              <a:t>前端</a:t>
            </a:r>
            <a:endParaRPr lang="en-US" sz="4800" dirty="0">
              <a:latin typeface="王漢宗顏楷體"/>
              <a:ea typeface="王漢宗顏楷體"/>
              <a:cs typeface="王漢宗顏楷體"/>
              <a:sym typeface="王漢宗顏楷體"/>
            </a:endParaRPr>
          </a:p>
        </p:txBody>
      </p:sp>
      <p:sp>
        <p:nvSpPr>
          <p:cNvPr id="17" name="TextBox 17"/>
          <p:cNvSpPr txBox="1"/>
          <p:nvPr/>
        </p:nvSpPr>
        <p:spPr>
          <a:xfrm rot="-449078">
            <a:off x="12744620" y="8946388"/>
            <a:ext cx="2583034" cy="491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200"/>
              </a:lnSpc>
              <a:spcBef>
                <a:spcPct val="0"/>
              </a:spcBef>
            </a:pPr>
            <a:r>
              <a:rPr lang="en-US" sz="3000" dirty="0">
                <a:latin typeface="Academy"/>
                <a:ea typeface="Academy"/>
                <a:cs typeface="Academy"/>
                <a:sym typeface="Academy"/>
              </a:rPr>
              <a:t>BOOTSTRAP</a:t>
            </a:r>
          </a:p>
        </p:txBody>
      </p:sp>
      <p:grpSp>
        <p:nvGrpSpPr>
          <p:cNvPr id="18" name="Group 18"/>
          <p:cNvGrpSpPr/>
          <p:nvPr/>
        </p:nvGrpSpPr>
        <p:grpSpPr>
          <a:xfrm rot="-1637951">
            <a:off x="-2637812" y="3653709"/>
            <a:ext cx="4673340" cy="10675483"/>
            <a:chOff x="0" y="0"/>
            <a:chExt cx="1230839" cy="2811650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1230839" cy="2811650"/>
            </a:xfrm>
            <a:custGeom>
              <a:avLst/>
              <a:gdLst/>
              <a:ahLst/>
              <a:cxnLst/>
              <a:rect l="l" t="t" r="r" b="b"/>
              <a:pathLst>
                <a:path w="1230839" h="2811650">
                  <a:moveTo>
                    <a:pt x="0" y="0"/>
                  </a:moveTo>
                  <a:lnTo>
                    <a:pt x="1230839" y="0"/>
                  </a:lnTo>
                  <a:lnTo>
                    <a:pt x="1230839" y="2811650"/>
                  </a:lnTo>
                  <a:lnTo>
                    <a:pt x="0" y="2811650"/>
                  </a:lnTo>
                  <a:close/>
                </a:path>
              </a:pathLst>
            </a:custGeom>
            <a:solidFill>
              <a:srgbClr val="F4B324"/>
            </a:solidFill>
          </p:spPr>
        </p:sp>
        <p:sp>
          <p:nvSpPr>
            <p:cNvPr id="20" name="TextBox 20"/>
            <p:cNvSpPr txBox="1"/>
            <p:nvPr/>
          </p:nvSpPr>
          <p:spPr>
            <a:xfrm>
              <a:off x="0" y="-28575"/>
              <a:ext cx="1230839" cy="2840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</a:pPr>
              <a:endParaRPr/>
            </a:p>
          </p:txBody>
        </p:sp>
      </p:grpSp>
      <p:grpSp>
        <p:nvGrpSpPr>
          <p:cNvPr id="21" name="Group 21"/>
          <p:cNvGrpSpPr/>
          <p:nvPr/>
        </p:nvGrpSpPr>
        <p:grpSpPr>
          <a:xfrm rot="1610738">
            <a:off x="-2790413" y="-7814426"/>
            <a:ext cx="4974647" cy="17141158"/>
            <a:chOff x="0" y="0"/>
            <a:chExt cx="1310195" cy="4514544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1310195" cy="4514543"/>
            </a:xfrm>
            <a:custGeom>
              <a:avLst/>
              <a:gdLst/>
              <a:ahLst/>
              <a:cxnLst/>
              <a:rect l="l" t="t" r="r" b="b"/>
              <a:pathLst>
                <a:path w="1310195" h="4514543">
                  <a:moveTo>
                    <a:pt x="0" y="0"/>
                  </a:moveTo>
                  <a:lnTo>
                    <a:pt x="1310195" y="0"/>
                  </a:lnTo>
                  <a:lnTo>
                    <a:pt x="1310195" y="4514543"/>
                  </a:lnTo>
                  <a:lnTo>
                    <a:pt x="0" y="4514543"/>
                  </a:lnTo>
                  <a:close/>
                </a:path>
              </a:pathLst>
            </a:custGeom>
            <a:solidFill>
              <a:srgbClr val="F4B324"/>
            </a:solidFill>
          </p:spPr>
        </p:sp>
        <p:sp>
          <p:nvSpPr>
            <p:cNvPr id="23" name="TextBox 23"/>
            <p:cNvSpPr txBox="1"/>
            <p:nvPr/>
          </p:nvSpPr>
          <p:spPr>
            <a:xfrm>
              <a:off x="0" y="-28575"/>
              <a:ext cx="1310195" cy="454311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</a:pPr>
              <a:endParaRPr/>
            </a:p>
          </p:txBody>
        </p:sp>
      </p:grpSp>
    </p:spTree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54545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/>
          <p:cNvSpPr/>
          <p:nvPr/>
        </p:nvSpPr>
        <p:spPr>
          <a:xfrm>
            <a:off x="4038600" y="495300"/>
            <a:ext cx="9677400" cy="10841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ts val="8400"/>
              </a:lnSpc>
              <a:spcBef>
                <a:spcPct val="0"/>
              </a:spcBef>
            </a:pPr>
            <a:r>
              <a:rPr lang="zh-TW" altLang="en-US" sz="6000" dirty="0" smtClean="0">
                <a:solidFill>
                  <a:srgbClr val="F6E7D8"/>
                </a:solidFill>
                <a:latin typeface="王漢宗特黑體"/>
                <a:ea typeface="王漢宗特黑體"/>
                <a:cs typeface="王漢宗特黑體"/>
                <a:sym typeface="王漢宗特黑體"/>
              </a:rPr>
              <a:t>響應式功能</a:t>
            </a:r>
            <a:endParaRPr lang="en-US" altLang="zh-TW" sz="6000" dirty="0" smtClean="0">
              <a:solidFill>
                <a:srgbClr val="F6E7D8"/>
              </a:solidFill>
              <a:latin typeface="王漢宗特黑體"/>
              <a:ea typeface="王漢宗特黑體"/>
              <a:cs typeface="王漢宗特黑體"/>
              <a:sym typeface="王漢宗特黑體"/>
            </a:endParaRPr>
          </a:p>
        </p:txBody>
      </p:sp>
      <p:pic>
        <p:nvPicPr>
          <p:cNvPr id="8" name="想印是.mp4">
            <a:hlinkClick r:id="" action="ppaction://media"/>
          </p:cNvPr>
          <p:cNvPicPr>
            <a:picLocks noRot="1" noChangeAspect="1"/>
          </p:cNvPicPr>
          <p:nvPr>
            <a:videoFile r:link="rId1"/>
          </p:nvPr>
        </p:nvPicPr>
        <p:blipFill>
          <a:blip r:embed="rId3" cstate="print"/>
          <a:stretch>
            <a:fillRect/>
          </a:stretch>
        </p:blipFill>
        <p:spPr>
          <a:xfrm>
            <a:off x="9525000" y="1638300"/>
            <a:ext cx="8305800" cy="8648700"/>
          </a:xfrm>
          <a:prstGeom prst="rect">
            <a:avLst/>
          </a:prstGeom>
        </p:spPr>
      </p:pic>
      <p:sp>
        <p:nvSpPr>
          <p:cNvPr id="9" name="矩形 8"/>
          <p:cNvSpPr/>
          <p:nvPr/>
        </p:nvSpPr>
        <p:spPr>
          <a:xfrm>
            <a:off x="914400" y="3619500"/>
            <a:ext cx="9144000" cy="2785378"/>
          </a:xfrm>
          <a:prstGeom prst="rect">
            <a:avLst/>
          </a:prstGeom>
        </p:spPr>
        <p:txBody>
          <a:bodyPr>
            <a:spAutoFit/>
          </a:bodyPr>
          <a:lstStyle/>
          <a:p>
            <a:pPr>
              <a:lnSpc>
                <a:spcPts val="4200"/>
              </a:lnSpc>
            </a:pPr>
            <a:r>
              <a:rPr lang="zh-TW" altLang="en-US" sz="3000" dirty="0" smtClean="0">
                <a:solidFill>
                  <a:srgbClr val="F6E7D8"/>
                </a:solidFill>
                <a:latin typeface="王漢宗特黑體"/>
                <a:ea typeface="王漢宗特黑體"/>
                <a:cs typeface="王漢宗特黑體"/>
                <a:sym typeface="王漢宗特黑體"/>
              </a:rPr>
              <a:t>啟用響應式後</a:t>
            </a:r>
            <a:r>
              <a:rPr lang="en-US" altLang="zh-TW" sz="3000" dirty="0" smtClean="0">
                <a:solidFill>
                  <a:srgbClr val="F6E7D8"/>
                </a:solidFill>
                <a:latin typeface="王漢宗特黑體"/>
                <a:ea typeface="王漢宗特黑體"/>
                <a:cs typeface="王漢宗特黑體"/>
                <a:sym typeface="王漢宗特黑體"/>
              </a:rPr>
              <a:t>:</a:t>
            </a:r>
          </a:p>
          <a:p>
            <a:pPr>
              <a:lnSpc>
                <a:spcPts val="4200"/>
              </a:lnSpc>
            </a:pPr>
            <a:r>
              <a:rPr lang="en-US" altLang="zh-TW" sz="3000" dirty="0" smtClean="0">
                <a:solidFill>
                  <a:srgbClr val="F6E7D8"/>
                </a:solidFill>
                <a:latin typeface="王漢宗特黑體"/>
                <a:ea typeface="王漢宗特黑體"/>
                <a:cs typeface="王漢宗特黑體"/>
                <a:sym typeface="王漢宗特黑體"/>
              </a:rPr>
              <a:t>	</a:t>
            </a:r>
            <a:r>
              <a:rPr lang="zh-TW" altLang="en-US" sz="3000" dirty="0" smtClean="0">
                <a:solidFill>
                  <a:srgbClr val="F6E7D8"/>
                </a:solidFill>
                <a:latin typeface="王漢宗特黑體"/>
                <a:ea typeface="王漢宗特黑體"/>
                <a:cs typeface="王漢宗特黑體"/>
                <a:sym typeface="王漢宗特黑體"/>
              </a:rPr>
              <a:t>寬度小於設定值則變為這樣，</a:t>
            </a:r>
            <a:endParaRPr lang="en-US" altLang="zh-TW" sz="3000" dirty="0" smtClean="0">
              <a:solidFill>
                <a:srgbClr val="F6E7D8"/>
              </a:solidFill>
              <a:latin typeface="王漢宗特黑體"/>
              <a:ea typeface="王漢宗特黑體"/>
              <a:cs typeface="王漢宗特黑體"/>
              <a:sym typeface="王漢宗特黑體"/>
            </a:endParaRPr>
          </a:p>
          <a:p>
            <a:pPr>
              <a:lnSpc>
                <a:spcPts val="4200"/>
              </a:lnSpc>
            </a:pPr>
            <a:r>
              <a:rPr lang="en-US" altLang="zh-TW" sz="3000" dirty="0" smtClean="0">
                <a:solidFill>
                  <a:srgbClr val="F6E7D8"/>
                </a:solidFill>
                <a:latin typeface="王漢宗特黑體"/>
                <a:ea typeface="王漢宗特黑體"/>
                <a:cs typeface="王漢宗特黑體"/>
                <a:sym typeface="王漢宗特黑體"/>
              </a:rPr>
              <a:t>	</a:t>
            </a:r>
            <a:r>
              <a:rPr lang="zh-TW" altLang="en-US" sz="3000" dirty="0" smtClean="0">
                <a:solidFill>
                  <a:srgbClr val="F6E7D8"/>
                </a:solidFill>
                <a:latin typeface="王漢宗特黑體"/>
                <a:ea typeface="王漢宗特黑體"/>
                <a:cs typeface="王漢宗特黑體"/>
                <a:sym typeface="王漢宗特黑體"/>
              </a:rPr>
              <a:t>目錄變至下方，</a:t>
            </a:r>
            <a:endParaRPr lang="en-US" altLang="zh-TW" sz="3000" dirty="0" smtClean="0">
              <a:solidFill>
                <a:srgbClr val="F6E7D8"/>
              </a:solidFill>
              <a:latin typeface="王漢宗特黑體"/>
              <a:ea typeface="王漢宗特黑體"/>
              <a:cs typeface="王漢宗特黑體"/>
              <a:sym typeface="王漢宗特黑體"/>
            </a:endParaRPr>
          </a:p>
          <a:p>
            <a:pPr>
              <a:lnSpc>
                <a:spcPts val="4200"/>
              </a:lnSpc>
            </a:pPr>
            <a:r>
              <a:rPr lang="en-US" altLang="zh-TW" sz="3000" dirty="0" smtClean="0">
                <a:solidFill>
                  <a:srgbClr val="F6E7D8"/>
                </a:solidFill>
                <a:latin typeface="王漢宗特黑體"/>
                <a:ea typeface="王漢宗特黑體"/>
                <a:cs typeface="王漢宗特黑體"/>
                <a:sym typeface="王漢宗特黑體"/>
              </a:rPr>
              <a:t>	</a:t>
            </a:r>
            <a:r>
              <a:rPr lang="zh-TW" altLang="en-US" sz="3000" dirty="0" smtClean="0">
                <a:solidFill>
                  <a:srgbClr val="F6E7D8"/>
                </a:solidFill>
                <a:latin typeface="王漢宗特黑體"/>
                <a:ea typeface="王漢宗特黑體"/>
                <a:cs typeface="王漢宗特黑體"/>
                <a:sym typeface="王漢宗特黑體"/>
              </a:rPr>
              <a:t>文字消失，</a:t>
            </a:r>
            <a:endParaRPr lang="en-US" altLang="zh-TW" sz="3000" dirty="0" smtClean="0">
              <a:solidFill>
                <a:srgbClr val="F6E7D8"/>
              </a:solidFill>
              <a:latin typeface="王漢宗特黑體"/>
              <a:ea typeface="王漢宗特黑體"/>
              <a:cs typeface="王漢宗特黑體"/>
              <a:sym typeface="王漢宗特黑體"/>
            </a:endParaRPr>
          </a:p>
          <a:p>
            <a:pPr>
              <a:lnSpc>
                <a:spcPts val="4200"/>
              </a:lnSpc>
            </a:pPr>
            <a:r>
              <a:rPr lang="en-US" altLang="zh-TW" sz="3000" dirty="0" smtClean="0">
                <a:solidFill>
                  <a:srgbClr val="F6E7D8"/>
                </a:solidFill>
                <a:latin typeface="王漢宗特黑體"/>
                <a:ea typeface="王漢宗特黑體"/>
                <a:cs typeface="王漢宗特黑體"/>
                <a:sym typeface="王漢宗特黑體"/>
              </a:rPr>
              <a:t>	</a:t>
            </a:r>
            <a:r>
              <a:rPr lang="zh-TW" altLang="en-US" sz="3000" dirty="0" smtClean="0">
                <a:solidFill>
                  <a:srgbClr val="F6E7D8"/>
                </a:solidFill>
                <a:latin typeface="王漢宗特黑體"/>
                <a:ea typeface="王漢宗特黑體"/>
                <a:cs typeface="王漢宗特黑體"/>
                <a:sym typeface="王漢宗特黑體"/>
              </a:rPr>
              <a:t>此為參照手機模式功能</a:t>
            </a:r>
            <a:endParaRPr lang="en-US" altLang="zh-TW" sz="3000" dirty="0" err="1" smtClean="0">
              <a:solidFill>
                <a:srgbClr val="F6E7D8"/>
              </a:solidFill>
              <a:latin typeface="王漢宗特黑體"/>
              <a:ea typeface="王漢宗特黑體"/>
              <a:cs typeface="王漢宗特黑體"/>
              <a:sym typeface="王漢宗特黑體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7826" fill="hold"/>
                                        <p:tgtEl>
                                          <p:spTgt spid="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>
                <p:cTn id="7" fill="hold" display="0">
                  <p:stCondLst>
                    <p:cond delay="indefinite"/>
                  </p:stCondLst>
                  <p:endCondLst>
                    <p:cond evt="onNext" delay="0">
                      <p:tgtEl>
                        <p:sldTgt/>
                      </p:tgtEl>
                    </p:cond>
                    <p:cond evt="onPrev" delay="0">
                      <p:tgtEl>
                        <p:sldTgt/>
                      </p:tgtEl>
                    </p:cond>
                  </p:endCondLst>
                </p:cTn>
                <p:tgtEl>
                  <p:spTgt spid="8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8"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54545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xmlns="" r:embed="rId4"/>
              </p:ext>
            </p:extLst>
          </p:nvPr>
        </p:nvPicPr>
        <p:blipFill>
          <a:blip r:embed="rId5" cstate="print"/>
          <a:srcRect/>
          <a:stretch>
            <a:fillRect/>
          </a:stretch>
        </p:blipFill>
        <p:spPr>
          <a:xfrm>
            <a:off x="9332320" y="2608174"/>
            <a:ext cx="8280529" cy="4401069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6444473" y="602255"/>
            <a:ext cx="4572000" cy="11525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400"/>
              </a:lnSpc>
              <a:spcBef>
                <a:spcPct val="0"/>
              </a:spcBef>
            </a:pPr>
            <a:r>
              <a:rPr lang="en-US" sz="6000">
                <a:solidFill>
                  <a:srgbClr val="F6E7D8"/>
                </a:solidFill>
                <a:latin typeface="王漢宗特黑體"/>
                <a:ea typeface="王漢宗特黑體"/>
                <a:cs typeface="王漢宗特黑體"/>
                <a:sym typeface="王漢宗特黑體"/>
              </a:rPr>
              <a:t>大圖截圖上傳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1297049" y="4102136"/>
            <a:ext cx="7620000" cy="1114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200"/>
              </a:lnSpc>
            </a:pPr>
            <a:r>
              <a:rPr lang="en-US" sz="3000" dirty="0" err="1">
                <a:solidFill>
                  <a:srgbClr val="F6E7D8"/>
                </a:solidFill>
                <a:latin typeface="王漢宗特黑體"/>
                <a:ea typeface="王漢宗特黑體"/>
                <a:cs typeface="王漢宗特黑體"/>
                <a:sym typeface="王漢宗特黑體"/>
              </a:rPr>
              <a:t>大容量過大的圖片，資料庫無法直接存取資料</a:t>
            </a:r>
            <a:endParaRPr lang="en-US" sz="3000" dirty="0">
              <a:solidFill>
                <a:srgbClr val="F6E7D8"/>
              </a:solidFill>
              <a:latin typeface="王漢宗特黑體"/>
              <a:ea typeface="王漢宗特黑體"/>
              <a:cs typeface="王漢宗特黑體"/>
              <a:sym typeface="王漢宗特黑體"/>
            </a:endParaRPr>
          </a:p>
          <a:p>
            <a:pPr algn="l">
              <a:lnSpc>
                <a:spcPts val="4200"/>
              </a:lnSpc>
              <a:spcBef>
                <a:spcPct val="0"/>
              </a:spcBef>
            </a:pPr>
            <a:r>
              <a:rPr lang="en-US" sz="3000" dirty="0" err="1">
                <a:solidFill>
                  <a:srgbClr val="F6E7D8"/>
                </a:solidFill>
                <a:latin typeface="王漢宗特黑體"/>
                <a:ea typeface="王漢宗特黑體"/>
                <a:cs typeface="王漢宗特黑體"/>
                <a:sym typeface="王漢宗特黑體"/>
              </a:rPr>
              <a:t>圖片限制為</a:t>
            </a:r>
            <a:r>
              <a:rPr lang="en-US" sz="3000" dirty="0">
                <a:solidFill>
                  <a:srgbClr val="F6E7D8"/>
                </a:solidFill>
                <a:latin typeface="王漢宗特黑體"/>
                <a:ea typeface="王漢宗特黑體"/>
                <a:cs typeface="王漢宗特黑體"/>
                <a:sym typeface="王漢宗特黑體"/>
              </a:rPr>
              <a:t>(15KB)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297049" y="5799737"/>
            <a:ext cx="2140029" cy="7556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  <a:spcBef>
                <a:spcPct val="0"/>
              </a:spcBef>
            </a:pPr>
            <a:r>
              <a:rPr lang="en-US" sz="3999" dirty="0" err="1">
                <a:solidFill>
                  <a:srgbClr val="F6E7D8"/>
                </a:solidFill>
                <a:latin typeface="王漢宗特黑體"/>
                <a:ea typeface="王漢宗特黑體"/>
                <a:cs typeface="王漢宗特黑體"/>
                <a:sym typeface="王漢宗特黑體"/>
              </a:rPr>
              <a:t>實作技術</a:t>
            </a:r>
            <a:r>
              <a:rPr lang="en-US" sz="3999" dirty="0">
                <a:solidFill>
                  <a:srgbClr val="F6E7D8"/>
                </a:solidFill>
                <a:latin typeface="王漢宗特黑體"/>
                <a:ea typeface="王漢宗特黑體"/>
                <a:cs typeface="王漢宗特黑體"/>
                <a:sym typeface="王漢宗特黑體"/>
              </a:rPr>
              <a:t>: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97049" y="2330227"/>
            <a:ext cx="2140029" cy="7556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  <a:spcBef>
                <a:spcPct val="0"/>
              </a:spcBef>
            </a:pPr>
            <a:r>
              <a:rPr lang="en-US" sz="3999">
                <a:solidFill>
                  <a:srgbClr val="F6E7D8"/>
                </a:solidFill>
                <a:latin typeface="王漢宗特黑體"/>
                <a:ea typeface="王漢宗特黑體"/>
                <a:cs typeface="王漢宗特黑體"/>
                <a:sym typeface="王漢宗特黑體"/>
              </a:rPr>
              <a:t>目標用途: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28700" y="7618843"/>
            <a:ext cx="12080916" cy="5810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F6E7D8"/>
                </a:solidFill>
                <a:latin typeface="王漢宗特黑體"/>
                <a:ea typeface="王漢宗特黑體"/>
                <a:cs typeface="王漢宗特黑體"/>
                <a:sym typeface="王漢宗特黑體"/>
              </a:rPr>
              <a:t>cropper截圖，分享後圖片存入mysql，後將mysql的資料再度回傳前端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100000">
                <p:cTn id="2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54545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xmlns="" r:embed="rId4"/>
              </p:ext>
            </p:extLst>
          </p:nvPr>
        </p:nvPicPr>
        <p:blipFill>
          <a:blip r:embed="rId5" cstate="print"/>
          <a:srcRect/>
          <a:stretch>
            <a:fillRect/>
          </a:stretch>
        </p:blipFill>
        <p:spPr>
          <a:xfrm>
            <a:off x="9655612" y="2693098"/>
            <a:ext cx="7965635" cy="4480669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7620000" y="623179"/>
            <a:ext cx="3048000" cy="11525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400"/>
              </a:lnSpc>
              <a:spcBef>
                <a:spcPct val="0"/>
              </a:spcBef>
            </a:pPr>
            <a:r>
              <a:rPr lang="en-US" sz="6000">
                <a:solidFill>
                  <a:srgbClr val="F6E7D8"/>
                </a:solidFill>
                <a:latin typeface="王漢宗特黑體"/>
                <a:ea typeface="王漢宗特黑體"/>
                <a:cs typeface="王漢宗特黑體"/>
                <a:sym typeface="王漢宗特黑體"/>
              </a:rPr>
              <a:t>多圖上傳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1297049" y="4123581"/>
            <a:ext cx="6096000" cy="5810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F6E7D8"/>
                </a:solidFill>
                <a:latin typeface="王漢宗特黑體"/>
                <a:ea typeface="王漢宗特黑體"/>
                <a:cs typeface="王漢宗特黑體"/>
                <a:sym typeface="王漢宗特黑體"/>
              </a:rPr>
              <a:t>讓圖文畫面流動，為網頁注入新鮮感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297049" y="5809505"/>
            <a:ext cx="2140029" cy="7556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  <a:spcBef>
                <a:spcPct val="0"/>
              </a:spcBef>
            </a:pPr>
            <a:r>
              <a:rPr lang="en-US" sz="3999">
                <a:solidFill>
                  <a:srgbClr val="F6E7D8"/>
                </a:solidFill>
                <a:latin typeface="王漢宗特黑體"/>
                <a:ea typeface="王漢宗特黑體"/>
                <a:cs typeface="王漢宗特黑體"/>
                <a:sym typeface="王漢宗特黑體"/>
              </a:rPr>
              <a:t>實作技術: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97049" y="2239073"/>
            <a:ext cx="2140029" cy="7556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  <a:spcBef>
                <a:spcPct val="0"/>
              </a:spcBef>
            </a:pPr>
            <a:r>
              <a:rPr lang="en-US" sz="3999">
                <a:solidFill>
                  <a:srgbClr val="F6E7D8"/>
                </a:solidFill>
                <a:latin typeface="王漢宗特黑體"/>
                <a:ea typeface="王漢宗特黑體"/>
                <a:cs typeface="王漢宗特黑體"/>
                <a:sym typeface="王漢宗特黑體"/>
              </a:rPr>
              <a:t>目標用途: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297049" y="7698630"/>
            <a:ext cx="3048000" cy="5810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F6E7D8"/>
                </a:solidFill>
                <a:latin typeface="王漢宗特黑體"/>
                <a:ea typeface="王漢宗特黑體"/>
                <a:cs typeface="王漢宗特黑體"/>
                <a:sym typeface="王漢宗特黑體"/>
              </a:rPr>
              <a:t>輪播圖結構的功能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100000">
                <p:cTn id="2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54545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2895600" y="508698"/>
            <a:ext cx="12192000" cy="99168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400"/>
              </a:lnSpc>
              <a:spcBef>
                <a:spcPct val="0"/>
              </a:spcBef>
            </a:pPr>
            <a:r>
              <a:rPr lang="en-US" sz="6000" dirty="0" err="1" smtClean="0">
                <a:solidFill>
                  <a:srgbClr val="F6E7D8"/>
                </a:solidFill>
                <a:latin typeface="王漢宗特黑體"/>
                <a:ea typeface="王漢宗特黑體"/>
                <a:cs typeface="王漢宗特黑體"/>
                <a:sym typeface="王漢宗特黑體"/>
              </a:rPr>
              <a:t>系統辨識擁有者</a:t>
            </a:r>
            <a:endParaRPr lang="en-US" sz="6000" dirty="0">
              <a:solidFill>
                <a:srgbClr val="F6E7D8"/>
              </a:solidFill>
              <a:latin typeface="王漢宗特黑體"/>
              <a:ea typeface="王漢宗特黑體"/>
              <a:cs typeface="王漢宗特黑體"/>
              <a:sym typeface="王漢宗特黑體"/>
            </a:endParaRPr>
          </a:p>
        </p:txBody>
      </p:sp>
      <p:sp>
        <p:nvSpPr>
          <p:cNvPr id="3" name="TextBox 3"/>
          <p:cNvSpPr txBox="1"/>
          <p:nvPr/>
        </p:nvSpPr>
        <p:spPr>
          <a:xfrm>
            <a:off x="1297049" y="4076670"/>
            <a:ext cx="6096000" cy="5810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F6E7D8"/>
                </a:solidFill>
                <a:latin typeface="王漢宗特黑體"/>
                <a:ea typeface="王漢宗特黑體"/>
                <a:cs typeface="王漢宗特黑體"/>
                <a:sym typeface="王漢宗特黑體"/>
              </a:rPr>
              <a:t>讓圖文畫面流動，為網頁注入新鮮感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1297049" y="5894360"/>
            <a:ext cx="2140029" cy="7556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  <a:spcBef>
                <a:spcPct val="0"/>
              </a:spcBef>
            </a:pPr>
            <a:r>
              <a:rPr lang="en-US" sz="3999">
                <a:solidFill>
                  <a:srgbClr val="F6E7D8"/>
                </a:solidFill>
                <a:latin typeface="王漢宗特黑體"/>
                <a:ea typeface="王漢宗特黑體"/>
                <a:cs typeface="王漢宗特黑體"/>
                <a:sym typeface="王漢宗特黑體"/>
              </a:rPr>
              <a:t>實作技術: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297049" y="2255921"/>
            <a:ext cx="2140029" cy="7556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  <a:spcBef>
                <a:spcPct val="0"/>
              </a:spcBef>
            </a:pPr>
            <a:r>
              <a:rPr lang="en-US" sz="3999">
                <a:solidFill>
                  <a:srgbClr val="F6E7D8"/>
                </a:solidFill>
                <a:latin typeface="王漢宗特黑體"/>
                <a:ea typeface="王漢宗特黑體"/>
                <a:cs typeface="王漢宗特黑體"/>
                <a:sym typeface="王漢宗特黑體"/>
              </a:rPr>
              <a:t>目標用途: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418490" y="7624851"/>
            <a:ext cx="13664895" cy="5810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F6E7D8"/>
                </a:solidFill>
                <a:latin typeface="王漢宗特黑體"/>
                <a:ea typeface="王漢宗特黑體"/>
                <a:cs typeface="王漢宗特黑體"/>
                <a:sym typeface="王漢宗特黑體"/>
              </a:rPr>
              <a:t>後端系統確認isownpost，若是符合，則允許修改，不是則不會出現按鈕</a:t>
            </a:r>
          </a:p>
        </p:txBody>
      </p:sp>
      <p:pic>
        <p:nvPicPr>
          <p:cNvPr id="8" name="所有權.mp4">
            <a:hlinkClick r:id="" action="ppaction://media"/>
          </p:cNvPr>
          <p:cNvPicPr>
            <a:picLocks noRot="1" noChangeAspect="1"/>
          </p:cNvPicPr>
          <p:nvPr>
            <a:videoFile r:link="rId1"/>
          </p:nvPr>
        </p:nvPicPr>
        <p:blipFill>
          <a:blip r:embed="rId3" cstate="print"/>
          <a:stretch>
            <a:fillRect/>
          </a:stretch>
        </p:blipFill>
        <p:spPr>
          <a:xfrm>
            <a:off x="9220200" y="2095500"/>
            <a:ext cx="8229600" cy="5334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32369" fill="hold"/>
                                        <p:tgtEl>
                                          <p:spTgt spid="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>
                <p:cTn id="7" fill="hold" display="0">
                  <p:stCondLst>
                    <p:cond delay="indefinite"/>
                  </p:stCondLst>
                  <p:endCondLst>
                    <p:cond evt="onNext" delay="0">
                      <p:tgtEl>
                        <p:sldTgt/>
                      </p:tgtEl>
                    </p:cond>
                    <p:cond evt="onPrev" delay="0">
                      <p:tgtEl>
                        <p:sldTgt/>
                      </p:tgtEl>
                    </p:cond>
                  </p:endCondLst>
                </p:cTn>
                <p:tgtEl>
                  <p:spTgt spid="8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8"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54545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/>
          <p:cNvSpPr txBox="1"/>
          <p:nvPr/>
        </p:nvSpPr>
        <p:spPr>
          <a:xfrm>
            <a:off x="4345587" y="508698"/>
            <a:ext cx="9596826" cy="11525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400"/>
              </a:lnSpc>
              <a:spcBef>
                <a:spcPct val="0"/>
              </a:spcBef>
            </a:pPr>
            <a:r>
              <a:rPr lang="en-US" sz="6000">
                <a:solidFill>
                  <a:srgbClr val="F6E7D8"/>
                </a:solidFill>
                <a:latin typeface="王漢宗特黑體"/>
                <a:ea typeface="王漢宗特黑體"/>
                <a:cs typeface="王漢宗特黑體"/>
                <a:sym typeface="王漢宗特黑體"/>
              </a:rPr>
              <a:t>通知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1297049" y="4111157"/>
            <a:ext cx="3810000" cy="5810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F6E7D8"/>
                </a:solidFill>
                <a:latin typeface="王漢宗特黑體"/>
                <a:ea typeface="王漢宗特黑體"/>
                <a:cs typeface="王漢宗特黑體"/>
                <a:sym typeface="王漢宗特黑體"/>
              </a:rPr>
              <a:t>能夠有機會認識新朋友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297049" y="5833101"/>
            <a:ext cx="2140029" cy="7556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  <a:spcBef>
                <a:spcPct val="0"/>
              </a:spcBef>
            </a:pPr>
            <a:r>
              <a:rPr lang="en-US" sz="3999">
                <a:solidFill>
                  <a:srgbClr val="F6E7D8"/>
                </a:solidFill>
                <a:latin typeface="王漢宗特黑體"/>
                <a:ea typeface="王漢宗特黑體"/>
                <a:cs typeface="王漢宗特黑體"/>
                <a:sym typeface="王漢宗特黑體"/>
              </a:rPr>
              <a:t>實作技術: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97049" y="2186013"/>
            <a:ext cx="2140029" cy="7556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  <a:spcBef>
                <a:spcPct val="0"/>
              </a:spcBef>
            </a:pPr>
            <a:r>
              <a:rPr lang="en-US" sz="3999">
                <a:solidFill>
                  <a:srgbClr val="F6E7D8"/>
                </a:solidFill>
                <a:latin typeface="王漢宗特黑體"/>
                <a:ea typeface="王漢宗特黑體"/>
                <a:cs typeface="王漢宗特黑體"/>
                <a:sym typeface="王漢宗特黑體"/>
              </a:rPr>
              <a:t>目標用途: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28700" y="7603252"/>
            <a:ext cx="11241815" cy="5810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F6E7D8"/>
                </a:solidFill>
                <a:latin typeface="王漢宗特黑體"/>
                <a:ea typeface="王漢宗特黑體"/>
                <a:cs typeface="王漢宗特黑體"/>
                <a:sym typeface="王漢宗特黑體"/>
              </a:rPr>
              <a:t>存取至後端API，在抓取至前端網頁，並且Feedback有未讀訊息</a:t>
            </a:r>
          </a:p>
        </p:txBody>
      </p:sp>
      <p:pic>
        <p:nvPicPr>
          <p:cNvPr id="8" name="整段通知.mp4">
            <a:hlinkClick r:id="" action="ppaction://media"/>
          </p:cNvPr>
          <p:cNvPicPr>
            <a:picLocks noRot="1" noChangeAspect="1"/>
          </p:cNvPicPr>
          <p:nvPr>
            <a:videoFile r:link="rId1"/>
          </p:nvPr>
        </p:nvPicPr>
        <p:blipFill>
          <a:blip r:embed="rId3" cstate="print"/>
          <a:stretch>
            <a:fillRect/>
          </a:stretch>
        </p:blipFill>
        <p:spPr>
          <a:xfrm>
            <a:off x="8229600" y="2171700"/>
            <a:ext cx="9161929" cy="486727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6" dur="1" fill="hold"/>
                                        <p:tgtEl>
                                          <p:spTgt spid="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8"/>
                  </p:tgtEl>
                </p:cond>
              </p:nextCondLst>
            </p:seq>
            <p:video>
              <p:cMediaNode>
                <p:cTn id="7" fill="hold" display="0">
                  <p:stCondLst>
                    <p:cond delay="indefinite"/>
                  </p:stCondLst>
                  <p:endCondLst>
                    <p:cond evt="onNext" delay="0">
                      <p:tgtEl>
                        <p:sldTgt/>
                      </p:tgtEl>
                    </p:cond>
                    <p:cond evt="onPrev" delay="0">
                      <p:tgtEl>
                        <p:sldTgt/>
                      </p:tgtEl>
                    </p:cond>
                  </p:endCondLst>
                </p:cTn>
                <p:tgtEl>
                  <p:spTgt spid="8"/>
                </p:tgtEl>
              </p:cMediaNode>
            </p:video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54545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/>
          <p:cNvSpPr txBox="1"/>
          <p:nvPr/>
        </p:nvSpPr>
        <p:spPr>
          <a:xfrm>
            <a:off x="4191000" y="4533900"/>
            <a:ext cx="9596826" cy="99168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400"/>
              </a:lnSpc>
              <a:spcBef>
                <a:spcPct val="0"/>
              </a:spcBef>
            </a:pPr>
            <a:r>
              <a:rPr lang="zh-TW" altLang="en-US" sz="6000" dirty="0" smtClean="0">
                <a:solidFill>
                  <a:srgbClr val="F6E7D8"/>
                </a:solidFill>
                <a:latin typeface="王漢宗特黑體"/>
                <a:ea typeface="王漢宗特黑體"/>
                <a:cs typeface="王漢宗特黑體"/>
                <a:sym typeface="王漢宗特黑體"/>
              </a:rPr>
              <a:t>謝謝觀看</a:t>
            </a:r>
            <a:endParaRPr lang="en-US" sz="6000" dirty="0">
              <a:solidFill>
                <a:srgbClr val="F6E7D8"/>
              </a:solidFill>
              <a:latin typeface="王漢宗特黑體"/>
              <a:ea typeface="王漢宗特黑體"/>
              <a:cs typeface="王漢宗特黑體"/>
              <a:sym typeface="王漢宗特黑體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</TotalTime>
  <Words>116</Words>
  <Application>Microsoft Office PowerPoint</Application>
  <PresentationFormat>自訂</PresentationFormat>
  <Paragraphs>46</Paragraphs>
  <Slides>8</Slides>
  <Notes>0</Notes>
  <HiddenSlides>0</HiddenSlides>
  <MMClips>5</MMClips>
  <ScaleCrop>false</ScaleCrop>
  <HeadingPairs>
    <vt:vector size="6" baseType="variant">
      <vt:variant>
        <vt:lpstr>使用字型</vt:lpstr>
      </vt:variant>
      <vt:variant>
        <vt:i4>9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8</vt:i4>
      </vt:variant>
    </vt:vector>
  </HeadingPairs>
  <TitlesOfParts>
    <vt:vector size="18" baseType="lpstr">
      <vt:lpstr>Arial</vt:lpstr>
      <vt:lpstr>新細明體</vt:lpstr>
      <vt:lpstr>王漢宗顏楷體</vt:lpstr>
      <vt:lpstr>王漢宗特黑體</vt:lpstr>
      <vt:lpstr>Noto Sans T Chinese</vt:lpstr>
      <vt:lpstr>Gotham</vt:lpstr>
      <vt:lpstr>Gotham Bold</vt:lpstr>
      <vt:lpstr>Calibri</vt:lpstr>
      <vt:lpstr>Academy</vt:lpstr>
      <vt:lpstr>Office Theme</vt:lpstr>
      <vt:lpstr>投影片 1</vt:lpstr>
      <vt:lpstr>投影片 2</vt:lpstr>
      <vt:lpstr>投影片 3</vt:lpstr>
      <vt:lpstr>投影片 4</vt:lpstr>
      <vt:lpstr>投影片 5</vt:lpstr>
      <vt:lpstr>投影片 6</vt:lpstr>
      <vt:lpstr>投影片 7</vt:lpstr>
      <vt:lpstr>投影片 8</vt:lpstr>
    </vt:vector>
  </TitlesOfParts>
  <Company/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1. White and Orange Simple Portfolio Presentation</dc:title>
  <cp:lastModifiedBy>USER</cp:lastModifiedBy>
  <cp:revision>9</cp:revision>
  <dcterms:created xsi:type="dcterms:W3CDTF">2006-08-16T00:00:00Z</dcterms:created>
  <dcterms:modified xsi:type="dcterms:W3CDTF">2025-02-18T15:55:09Z</dcterms:modified>
  <dc:identifier>DAGeCAkPZPA</dc:identifier>
</cp:coreProperties>
</file>